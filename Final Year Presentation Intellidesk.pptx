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72" r:id="rId5"/>
    <p:sldId id="262" r:id="rId6"/>
    <p:sldId id="263" r:id="rId7"/>
    <p:sldId id="264" r:id="rId8"/>
    <p:sldId id="265" r:id="rId9"/>
    <p:sldId id="273" r:id="rId10"/>
    <p:sldId id="266" r:id="rId11"/>
    <p:sldId id="267" r:id="rId12"/>
    <p:sldId id="268" r:id="rId13"/>
    <p:sldId id="269" r:id="rId14"/>
    <p:sldId id="270" r:id="rId15"/>
    <p:sldId id="271"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462D89-467E-4814-B722-4ED6A37295D1}" type="datetimeFigureOut">
              <a:rPr lang="en-US" smtClean="0"/>
              <a:t>5/25/2026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983F59-5044-4B01-9AFC-B6D0CA6938F8}" type="slidenum">
              <a:rPr lang="en-US" smtClean="0"/>
              <a:t>‹#›</a:t>
            </a:fld>
            <a:endParaRPr lang="en-US"/>
          </a:p>
        </p:txBody>
      </p:sp>
    </p:spTree>
    <p:extLst>
      <p:ext uri="{BB962C8B-B14F-4D97-AF65-F5344CB8AC3E}">
        <p14:creationId xmlns:p14="http://schemas.microsoft.com/office/powerpoint/2010/main" val="4169049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983F59-5044-4B01-9AFC-B6D0CA6938F8}" type="slidenum">
              <a:rPr lang="en-US" smtClean="0"/>
              <a:t>11</a:t>
            </a:fld>
            <a:endParaRPr lang="en-US"/>
          </a:p>
        </p:txBody>
      </p:sp>
    </p:spTree>
    <p:extLst>
      <p:ext uri="{BB962C8B-B14F-4D97-AF65-F5344CB8AC3E}">
        <p14:creationId xmlns:p14="http://schemas.microsoft.com/office/powerpoint/2010/main" val="3128458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890C-DE66-4E6B-CEF2-87D7F5C9EC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1B9D48-DBCC-0F74-CD08-92D8BA071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485816-AE6C-8AAC-5AF4-84586F02CC8D}"/>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5" name="Footer Placeholder 4">
            <a:extLst>
              <a:ext uri="{FF2B5EF4-FFF2-40B4-BE49-F238E27FC236}">
                <a16:creationId xmlns:a16="http://schemas.microsoft.com/office/drawing/2014/main" id="{4DE3D25F-F23B-EE65-EAB1-00617F5725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C76E29-CBF4-8C2A-72FF-A168C9BBC5A5}"/>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269762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6937-A72E-BD24-5FB2-65C7DB973F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703EA6-D44D-35B9-5A2B-3D76CA0A36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CACAD8-254B-52CF-54D1-040C57417306}"/>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5" name="Footer Placeholder 4">
            <a:extLst>
              <a:ext uri="{FF2B5EF4-FFF2-40B4-BE49-F238E27FC236}">
                <a16:creationId xmlns:a16="http://schemas.microsoft.com/office/drawing/2014/main" id="{3EB2DE70-47DD-AC2D-3676-5D7794CAD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3D88FF-8D0F-68F3-C83D-CE98B8D421C2}"/>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2397657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C5B96-F52F-F97F-4BB3-FDBEA2C00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E4355F-0A5A-7B77-A899-4E9E1BF333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E573E8-6C03-9EF9-F582-197D90E8FAE8}"/>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5" name="Footer Placeholder 4">
            <a:extLst>
              <a:ext uri="{FF2B5EF4-FFF2-40B4-BE49-F238E27FC236}">
                <a16:creationId xmlns:a16="http://schemas.microsoft.com/office/drawing/2014/main" id="{EA1D6640-D72A-6478-3B1F-832B156FB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782CF-E83D-8729-302F-9F5803EAF244}"/>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201381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22F6-75D5-B0E5-318F-7D5D83B7C8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086183-BBA6-46F9-E7A9-8CD557F4EC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9CDCA1-B5BC-9B73-7051-8B24DF7C8F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5D60C2-6B49-41B0-94D7-D7EABC75DB91}"/>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6" name="Footer Placeholder 5">
            <a:extLst>
              <a:ext uri="{FF2B5EF4-FFF2-40B4-BE49-F238E27FC236}">
                <a16:creationId xmlns:a16="http://schemas.microsoft.com/office/drawing/2014/main" id="{D1DFDAA8-EF1D-D095-206D-B34C98EACE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489E62-2807-59D5-6C41-B04FF89BB632}"/>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3174303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0440D-1DDF-664B-3F7D-A3E0C361A3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2C7BBB-46BB-C8C4-ABED-A5D02E9913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838F0-2C15-5E52-6EB5-75314814F5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20DC2A-BF48-C0A6-C259-C79A1CBAB0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8202A5-CF51-6D2F-AB3A-A13EA7E0BF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67C71B-2499-D812-3A06-97F19AC9A393}"/>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8" name="Footer Placeholder 7">
            <a:extLst>
              <a:ext uri="{FF2B5EF4-FFF2-40B4-BE49-F238E27FC236}">
                <a16:creationId xmlns:a16="http://schemas.microsoft.com/office/drawing/2014/main" id="{AD63A126-F15A-1349-1F90-30F8E0B009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A55322-89D0-F97D-77E6-648F3F1C6750}"/>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512753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1E0F-72FA-6872-8020-08258C04A9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92BC6F-EDEE-8419-3802-E6831EDD22ED}"/>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4" name="Footer Placeholder 3">
            <a:extLst>
              <a:ext uri="{FF2B5EF4-FFF2-40B4-BE49-F238E27FC236}">
                <a16:creationId xmlns:a16="http://schemas.microsoft.com/office/drawing/2014/main" id="{7FCCA8C1-0E77-2C59-CB43-E4607000A2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98E52C-F695-1F99-B0FB-13D95A25656C}"/>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3913461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AA6820-65E8-ED25-B5E0-69E612A5012B}"/>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3" name="Footer Placeholder 2">
            <a:extLst>
              <a:ext uri="{FF2B5EF4-FFF2-40B4-BE49-F238E27FC236}">
                <a16:creationId xmlns:a16="http://schemas.microsoft.com/office/drawing/2014/main" id="{CAAC1B74-153E-BD24-98DF-11AE11096F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41B6E9-821C-CC30-004A-2C1FBC0B0DF0}"/>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2432206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47441-C68B-5F3C-880C-69DB0768B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7A720C-3EC2-75C8-5AE6-EFAA47C974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15D495-547D-E9D7-29FF-8242CEF7FE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52C0CE-1FE9-D610-4A76-091B89B3F9BD}"/>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6" name="Footer Placeholder 5">
            <a:extLst>
              <a:ext uri="{FF2B5EF4-FFF2-40B4-BE49-F238E27FC236}">
                <a16:creationId xmlns:a16="http://schemas.microsoft.com/office/drawing/2014/main" id="{32BE7C4A-BF8E-5E5B-6FB5-0006B58405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90E701-077C-A558-5A02-CAB83735061B}"/>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2207622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A1794-FD47-9329-A51D-65186515ED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C4871-070F-EA18-0BBA-0D95639DB7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6D133B-A9C0-2840-6C06-64FFC0857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CA98BC-5493-0477-7421-1DCAB32ECAF8}"/>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6" name="Footer Placeholder 5">
            <a:extLst>
              <a:ext uri="{FF2B5EF4-FFF2-40B4-BE49-F238E27FC236}">
                <a16:creationId xmlns:a16="http://schemas.microsoft.com/office/drawing/2014/main" id="{CE3CEC4D-3BAC-2F43-65C9-A0CE06BA2C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CA56B-B736-1B3F-10C5-BB8AAD857E66}"/>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1188000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E9C22-399F-A63B-91EE-5AF81D9F74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05579C-71B6-CA64-93C6-32D74C0FF5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4589A-462C-A351-A2BA-C3EF0EB44506}"/>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5" name="Footer Placeholder 4">
            <a:extLst>
              <a:ext uri="{FF2B5EF4-FFF2-40B4-BE49-F238E27FC236}">
                <a16:creationId xmlns:a16="http://schemas.microsoft.com/office/drawing/2014/main" id="{7E968C9D-C4CC-E7EC-5C25-E64D4AF4A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EE719-5F5A-C3D0-2F62-54D44497C0D9}"/>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84579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5CB7C1-9E41-986C-F5E7-929922BF97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9A5876-5C4F-2DD7-9835-B29241240C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41ADD5-E8F2-4E89-F3F0-5B383AE30F9A}"/>
              </a:ext>
            </a:extLst>
          </p:cNvPr>
          <p:cNvSpPr>
            <a:spLocks noGrp="1"/>
          </p:cNvSpPr>
          <p:nvPr>
            <p:ph type="dt" sz="half" idx="10"/>
          </p:nvPr>
        </p:nvSpPr>
        <p:spPr/>
        <p:txBody>
          <a:bodyPr/>
          <a:lstStyle/>
          <a:p>
            <a:fld id="{07FA70E4-FFBE-40DB-B05E-C6649FE47CEA}" type="datetimeFigureOut">
              <a:rPr lang="en-US" smtClean="0"/>
              <a:t>5/25/2026</a:t>
            </a:fld>
            <a:endParaRPr lang="en-US"/>
          </a:p>
        </p:txBody>
      </p:sp>
      <p:sp>
        <p:nvSpPr>
          <p:cNvPr id="5" name="Footer Placeholder 4">
            <a:extLst>
              <a:ext uri="{FF2B5EF4-FFF2-40B4-BE49-F238E27FC236}">
                <a16:creationId xmlns:a16="http://schemas.microsoft.com/office/drawing/2014/main" id="{8EB7512A-7D5B-DBB8-5128-E68F5F298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9BF21-4B30-9733-D370-8517BDC6CA1A}"/>
              </a:ext>
            </a:extLst>
          </p:cNvPr>
          <p:cNvSpPr>
            <a:spLocks noGrp="1"/>
          </p:cNvSpPr>
          <p:nvPr>
            <p:ph type="sldNum" sz="quarter" idx="12"/>
          </p:nvPr>
        </p:nvSpPr>
        <p:spPr/>
        <p:txBody>
          <a:bodyPr/>
          <a:lstStyle/>
          <a:p>
            <a:fld id="{8149DA9D-F5DB-4755-8915-06F374FEDF94}" type="slidenum">
              <a:rPr lang="en-US" smtClean="0"/>
              <a:t>‹#›</a:t>
            </a:fld>
            <a:endParaRPr lang="en-US"/>
          </a:p>
        </p:txBody>
      </p:sp>
    </p:spTree>
    <p:extLst>
      <p:ext uri="{BB962C8B-B14F-4D97-AF65-F5344CB8AC3E}">
        <p14:creationId xmlns:p14="http://schemas.microsoft.com/office/powerpoint/2010/main" val="79131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D9731C-58B5-0F2F-5C25-7D3FECE03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47DB05-4B7E-0B73-5B17-5672452E7E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B7C05-D0F5-1D41-4711-EC92F9AD97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FA70E4-FFBE-40DB-B05E-C6649FE47CEA}" type="datetimeFigureOut">
              <a:rPr lang="en-US" smtClean="0"/>
              <a:t>5/25/2026</a:t>
            </a:fld>
            <a:endParaRPr lang="en-US"/>
          </a:p>
        </p:txBody>
      </p:sp>
      <p:sp>
        <p:nvSpPr>
          <p:cNvPr id="5" name="Footer Placeholder 4">
            <a:extLst>
              <a:ext uri="{FF2B5EF4-FFF2-40B4-BE49-F238E27FC236}">
                <a16:creationId xmlns:a16="http://schemas.microsoft.com/office/drawing/2014/main" id="{E79612F2-384F-D747-C6E8-04E5551F3C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859635-C564-CCA3-A899-1BA41D598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9DA9D-F5DB-4755-8915-06F374FEDF94}" type="slidenum">
              <a:rPr lang="en-US" smtClean="0"/>
              <a:t>‹#›</a:t>
            </a:fld>
            <a:endParaRPr lang="en-US"/>
          </a:p>
        </p:txBody>
      </p:sp>
    </p:spTree>
    <p:extLst>
      <p:ext uri="{BB962C8B-B14F-4D97-AF65-F5344CB8AC3E}">
        <p14:creationId xmlns:p14="http://schemas.microsoft.com/office/powerpoint/2010/main" val="623343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F931DB-831C-A2F0-B412-8A786F080EEA}"/>
              </a:ext>
            </a:extLst>
          </p:cNvPr>
          <p:cNvSpPr txBox="1"/>
          <p:nvPr/>
        </p:nvSpPr>
        <p:spPr>
          <a:xfrm>
            <a:off x="2157984" y="585216"/>
            <a:ext cx="7763256" cy="584775"/>
          </a:xfrm>
          <a:prstGeom prst="rect">
            <a:avLst/>
          </a:prstGeom>
          <a:noFill/>
        </p:spPr>
        <p:txBody>
          <a:bodyPr wrap="square" rtlCol="0">
            <a:spAutoFit/>
          </a:bodyPr>
          <a:lstStyle/>
          <a:p>
            <a:pPr algn="ctr"/>
            <a:r>
              <a:rPr lang="en-US" sz="3200" dirty="0">
                <a:latin typeface="Times New Roman" panose="02020603050405020304" pitchFamily="18" charset="0"/>
                <a:ea typeface="Tahoma" panose="020B0604030504040204" pitchFamily="34" charset="0"/>
                <a:cs typeface="Times New Roman" panose="02020603050405020304" pitchFamily="18" charset="0"/>
              </a:rPr>
              <a:t>INTELLIDESK - AI CONTROLLER</a:t>
            </a:r>
          </a:p>
        </p:txBody>
      </p:sp>
      <p:pic>
        <p:nvPicPr>
          <p:cNvPr id="1026" name="Picture 2" descr="Institute of Engineering and Technology - Wikipedia">
            <a:extLst>
              <a:ext uri="{FF2B5EF4-FFF2-40B4-BE49-F238E27FC236}">
                <a16:creationId xmlns:a16="http://schemas.microsoft.com/office/drawing/2014/main" id="{8FDE43EA-4A91-04F2-4812-A54A5FC53B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6526" y="1188279"/>
            <a:ext cx="2195001" cy="21950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9A0B426-B468-9188-132B-069F7D0359E8}"/>
              </a:ext>
            </a:extLst>
          </p:cNvPr>
          <p:cNvSpPr txBox="1"/>
          <p:nvPr/>
        </p:nvSpPr>
        <p:spPr>
          <a:xfrm>
            <a:off x="2249424" y="3429000"/>
            <a:ext cx="7763256" cy="954107"/>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Department of Computer Science &amp; Engineering IET Lucknow</a:t>
            </a: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11733D2E-6E12-BE0E-0A0A-37DC60B97B05}"/>
              </a:ext>
            </a:extLst>
          </p:cNvPr>
          <p:cNvSpPr txBox="1"/>
          <p:nvPr/>
        </p:nvSpPr>
        <p:spPr>
          <a:xfrm>
            <a:off x="7379208" y="5330952"/>
            <a:ext cx="4645152"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Guided by: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Name of supervisor : Prof. D.S. Yadav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Name of co- supervisor: Mr. Deepanshu Singh Yadav</a:t>
            </a:r>
          </a:p>
        </p:txBody>
      </p:sp>
      <p:sp>
        <p:nvSpPr>
          <p:cNvPr id="7" name="TextBox 6">
            <a:extLst>
              <a:ext uri="{FF2B5EF4-FFF2-40B4-BE49-F238E27FC236}">
                <a16:creationId xmlns:a16="http://schemas.microsoft.com/office/drawing/2014/main" id="{6CD9447F-5BF1-DD0B-F1B0-1635D3A712E7}"/>
              </a:ext>
            </a:extLst>
          </p:cNvPr>
          <p:cNvSpPr txBox="1"/>
          <p:nvPr/>
        </p:nvSpPr>
        <p:spPr>
          <a:xfrm>
            <a:off x="856488" y="5222552"/>
            <a:ext cx="4645152" cy="107721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Submitted by: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Aman Sharma : 2200520100010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Ayush Kumar : 2200520100020</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Vivek Kr Tiwari : 2200520100070</a:t>
            </a:r>
          </a:p>
        </p:txBody>
      </p:sp>
    </p:spTree>
    <p:extLst>
      <p:ext uri="{BB962C8B-B14F-4D97-AF65-F5344CB8AC3E}">
        <p14:creationId xmlns:p14="http://schemas.microsoft.com/office/powerpoint/2010/main" val="784951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C881D6-1874-BBE1-B5CB-DD0C73FB3122}"/>
              </a:ext>
            </a:extLst>
          </p:cNvPr>
          <p:cNvSpPr txBox="1"/>
          <p:nvPr/>
        </p:nvSpPr>
        <p:spPr>
          <a:xfrm>
            <a:off x="1240536" y="1760959"/>
            <a:ext cx="4855464" cy="317009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Objective &amp; Problem Statement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Survey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Methodology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Implementation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Scope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 </a:t>
            </a:r>
          </a:p>
        </p:txBody>
      </p:sp>
      <p:sp>
        <p:nvSpPr>
          <p:cNvPr id="5" name="TextBox 4">
            <a:extLst>
              <a:ext uri="{FF2B5EF4-FFF2-40B4-BE49-F238E27FC236}">
                <a16:creationId xmlns:a16="http://schemas.microsoft.com/office/drawing/2014/main" id="{988379EA-6D43-8FBD-68C0-2F3E78A0F25E}"/>
              </a:ext>
            </a:extLst>
          </p:cNvPr>
          <p:cNvSpPr txBox="1"/>
          <p:nvPr/>
        </p:nvSpPr>
        <p:spPr>
          <a:xfrm>
            <a:off x="1188720" y="603504"/>
            <a:ext cx="3749040" cy="1323439"/>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Agenda </a:t>
            </a:r>
          </a:p>
          <a:p>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454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A898-BAC6-F49D-D112-F37C036F70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9E28B3-26EE-1DED-3F84-AF4E310C8C5F}"/>
              </a:ext>
            </a:extLst>
          </p:cNvPr>
          <p:cNvSpPr txBox="1"/>
          <p:nvPr/>
        </p:nvSpPr>
        <p:spPr>
          <a:xfrm>
            <a:off x="1188720" y="603504"/>
            <a:ext cx="374904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Introduction  </a:t>
            </a:r>
          </a:p>
        </p:txBody>
      </p:sp>
      <p:pic>
        <p:nvPicPr>
          <p:cNvPr id="5" name="Picture 4">
            <a:extLst>
              <a:ext uri="{FF2B5EF4-FFF2-40B4-BE49-F238E27FC236}">
                <a16:creationId xmlns:a16="http://schemas.microsoft.com/office/drawing/2014/main" id="{7418C04D-1971-BB3F-52A7-9A14F5D61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463040"/>
            <a:ext cx="10780775" cy="4791456"/>
          </a:xfrm>
          <a:prstGeom prst="rect">
            <a:avLst/>
          </a:prstGeom>
        </p:spPr>
      </p:pic>
    </p:spTree>
    <p:extLst>
      <p:ext uri="{BB962C8B-B14F-4D97-AF65-F5344CB8AC3E}">
        <p14:creationId xmlns:p14="http://schemas.microsoft.com/office/powerpoint/2010/main" val="169411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CFA5-4965-2205-F2DB-61958936FFE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78ACF6-4B5A-303F-DF86-DEE079927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7141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0B99E-1FC9-5DC4-C6DD-4C58EF7D27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AA21B4-1902-EAD5-968F-2C3C2BBAF3B9}"/>
              </a:ext>
            </a:extLst>
          </p:cNvPr>
          <p:cNvSpPr txBox="1"/>
          <p:nvPr/>
        </p:nvSpPr>
        <p:spPr>
          <a:xfrm>
            <a:off x="1188720" y="402336"/>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Objective &amp; Problem Statement  </a:t>
            </a:r>
          </a:p>
        </p:txBody>
      </p:sp>
      <p:pic>
        <p:nvPicPr>
          <p:cNvPr id="4" name="Picture 3">
            <a:extLst>
              <a:ext uri="{FF2B5EF4-FFF2-40B4-BE49-F238E27FC236}">
                <a16:creationId xmlns:a16="http://schemas.microsoft.com/office/drawing/2014/main" id="{723BE0FC-8308-A2FE-FB06-2B36B03B72E4}"/>
              </a:ext>
            </a:extLst>
          </p:cNvPr>
          <p:cNvPicPr>
            <a:picLocks noChangeAspect="1"/>
          </p:cNvPicPr>
          <p:nvPr/>
        </p:nvPicPr>
        <p:blipFill>
          <a:blip r:embed="rId2">
            <a:extLst>
              <a:ext uri="{28A0092B-C50C-407E-A947-70E740481C1C}">
                <a14:useLocalDpi xmlns:a14="http://schemas.microsoft.com/office/drawing/2010/main" val="0"/>
              </a:ext>
            </a:extLst>
          </a:blip>
          <a:srcRect t="3577" b="8935"/>
          <a:stretch>
            <a:fillRect/>
          </a:stretch>
        </p:blipFill>
        <p:spPr>
          <a:xfrm>
            <a:off x="1074038" y="1192518"/>
            <a:ext cx="9588099" cy="5592330"/>
          </a:xfrm>
          <a:prstGeom prst="rect">
            <a:avLst/>
          </a:prstGeom>
        </p:spPr>
      </p:pic>
    </p:spTree>
    <p:extLst>
      <p:ext uri="{BB962C8B-B14F-4D97-AF65-F5344CB8AC3E}">
        <p14:creationId xmlns:p14="http://schemas.microsoft.com/office/powerpoint/2010/main" val="3899572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F5692-B0BB-B056-65D1-4011EFDF2F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66CFF5-4280-3044-B676-003C7AAB30EA}"/>
              </a:ext>
            </a:extLst>
          </p:cNvPr>
          <p:cNvSpPr txBox="1"/>
          <p:nvPr/>
        </p:nvSpPr>
        <p:spPr>
          <a:xfrm>
            <a:off x="1124712" y="347472"/>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Literature Survey</a:t>
            </a:r>
          </a:p>
        </p:txBody>
      </p:sp>
      <p:pic>
        <p:nvPicPr>
          <p:cNvPr id="4" name="Picture 3">
            <a:extLst>
              <a:ext uri="{FF2B5EF4-FFF2-40B4-BE49-F238E27FC236}">
                <a16:creationId xmlns:a16="http://schemas.microsoft.com/office/drawing/2014/main" id="{D6DB188A-4DCA-36A7-2AC9-A4C8FE4F8BAC}"/>
              </a:ext>
            </a:extLst>
          </p:cNvPr>
          <p:cNvPicPr>
            <a:picLocks noChangeAspect="1"/>
          </p:cNvPicPr>
          <p:nvPr/>
        </p:nvPicPr>
        <p:blipFill>
          <a:blip r:embed="rId2">
            <a:extLst>
              <a:ext uri="{28A0092B-C50C-407E-A947-70E740481C1C}">
                <a14:useLocalDpi xmlns:a14="http://schemas.microsoft.com/office/drawing/2010/main" val="0"/>
              </a:ext>
            </a:extLst>
          </a:blip>
          <a:srcRect t="8800" b="10533"/>
          <a:stretch>
            <a:fillRect/>
          </a:stretch>
        </p:blipFill>
        <p:spPr>
          <a:xfrm>
            <a:off x="952500" y="1197864"/>
            <a:ext cx="10287000" cy="5532120"/>
          </a:xfrm>
          <a:prstGeom prst="rect">
            <a:avLst/>
          </a:prstGeom>
        </p:spPr>
      </p:pic>
    </p:spTree>
    <p:extLst>
      <p:ext uri="{BB962C8B-B14F-4D97-AF65-F5344CB8AC3E}">
        <p14:creationId xmlns:p14="http://schemas.microsoft.com/office/powerpoint/2010/main" val="166802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3FAE5-E008-52ED-C4B4-F0EC77BDF9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6B8DDB-D6F1-91AE-632C-4195F343C5C2}"/>
              </a:ext>
            </a:extLst>
          </p:cNvPr>
          <p:cNvSpPr txBox="1"/>
          <p:nvPr/>
        </p:nvSpPr>
        <p:spPr>
          <a:xfrm>
            <a:off x="1188720" y="484632"/>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Proposed Methodology</a:t>
            </a:r>
          </a:p>
        </p:txBody>
      </p:sp>
      <p:pic>
        <p:nvPicPr>
          <p:cNvPr id="4" name="Picture 3">
            <a:extLst>
              <a:ext uri="{FF2B5EF4-FFF2-40B4-BE49-F238E27FC236}">
                <a16:creationId xmlns:a16="http://schemas.microsoft.com/office/drawing/2014/main" id="{B5DA8F2D-5F2F-1DCC-D15A-E180BAD8EF14}"/>
              </a:ext>
            </a:extLst>
          </p:cNvPr>
          <p:cNvPicPr>
            <a:picLocks noChangeAspect="1"/>
          </p:cNvPicPr>
          <p:nvPr/>
        </p:nvPicPr>
        <p:blipFill>
          <a:blip r:embed="rId2">
            <a:extLst>
              <a:ext uri="{28A0092B-C50C-407E-A947-70E740481C1C}">
                <a14:useLocalDpi xmlns:a14="http://schemas.microsoft.com/office/drawing/2010/main" val="0"/>
              </a:ext>
            </a:extLst>
          </a:blip>
          <a:srcRect t="8800" b="2533"/>
          <a:stretch>
            <a:fillRect/>
          </a:stretch>
        </p:blipFill>
        <p:spPr>
          <a:xfrm>
            <a:off x="1430981" y="1274814"/>
            <a:ext cx="9414301" cy="5564898"/>
          </a:xfrm>
          <a:prstGeom prst="rect">
            <a:avLst/>
          </a:prstGeom>
        </p:spPr>
      </p:pic>
    </p:spTree>
    <p:extLst>
      <p:ext uri="{BB962C8B-B14F-4D97-AF65-F5344CB8AC3E}">
        <p14:creationId xmlns:p14="http://schemas.microsoft.com/office/powerpoint/2010/main" val="3244705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6652C-6CC5-D9AD-E6DF-55957F0F2B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BC46A8-9955-643B-DF19-C6230B2DBB38}"/>
              </a:ext>
            </a:extLst>
          </p:cNvPr>
          <p:cNvSpPr txBox="1"/>
          <p:nvPr/>
        </p:nvSpPr>
        <p:spPr>
          <a:xfrm>
            <a:off x="1188720" y="603504"/>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F95D0C5C-E8E1-F34E-8124-E75C05334C93}"/>
              </a:ext>
            </a:extLst>
          </p:cNvPr>
          <p:cNvPicPr>
            <a:picLocks noChangeAspect="1"/>
          </p:cNvPicPr>
          <p:nvPr/>
        </p:nvPicPr>
        <p:blipFill>
          <a:blip r:embed="rId2"/>
          <a:srcRect l="3075" t="3058" r="2876" b="4671"/>
          <a:stretch>
            <a:fillRect/>
          </a:stretch>
        </p:blipFill>
        <p:spPr>
          <a:xfrm>
            <a:off x="1417320" y="1378957"/>
            <a:ext cx="9720072" cy="4875539"/>
          </a:xfrm>
          <a:prstGeom prst="rect">
            <a:avLst/>
          </a:prstGeom>
        </p:spPr>
      </p:pic>
    </p:spTree>
    <p:extLst>
      <p:ext uri="{BB962C8B-B14F-4D97-AF65-F5344CB8AC3E}">
        <p14:creationId xmlns:p14="http://schemas.microsoft.com/office/powerpoint/2010/main" val="2513844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0F92E-F702-3B1D-090A-2C8D2C80F6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B0C48F-92ED-E031-833F-14D46FE6358F}"/>
              </a:ext>
            </a:extLst>
          </p:cNvPr>
          <p:cNvSpPr txBox="1"/>
          <p:nvPr/>
        </p:nvSpPr>
        <p:spPr>
          <a:xfrm>
            <a:off x="1188720" y="603504"/>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2696CAD3-BEA6-93E4-FBE8-8E83E1F96AB9}"/>
              </a:ext>
            </a:extLst>
          </p:cNvPr>
          <p:cNvPicPr>
            <a:picLocks noChangeAspect="1"/>
          </p:cNvPicPr>
          <p:nvPr/>
        </p:nvPicPr>
        <p:blipFill>
          <a:blip r:embed="rId2"/>
          <a:stretch>
            <a:fillRect/>
          </a:stretch>
        </p:blipFill>
        <p:spPr>
          <a:xfrm>
            <a:off x="1453896" y="1277343"/>
            <a:ext cx="10527792" cy="5041161"/>
          </a:xfrm>
          <a:prstGeom prst="rect">
            <a:avLst/>
          </a:prstGeom>
        </p:spPr>
      </p:pic>
    </p:spTree>
    <p:extLst>
      <p:ext uri="{BB962C8B-B14F-4D97-AF65-F5344CB8AC3E}">
        <p14:creationId xmlns:p14="http://schemas.microsoft.com/office/powerpoint/2010/main" val="457229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85D7-8E94-06AF-A793-8041435513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4A7334-F767-9CC4-7587-FEF1A08E4BCB}"/>
              </a:ext>
            </a:extLst>
          </p:cNvPr>
          <p:cNvSpPr txBox="1"/>
          <p:nvPr/>
        </p:nvSpPr>
        <p:spPr>
          <a:xfrm>
            <a:off x="1188720" y="603504"/>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0AE0DF2C-9871-154B-0EB6-86716F70B134}"/>
              </a:ext>
            </a:extLst>
          </p:cNvPr>
          <p:cNvPicPr>
            <a:picLocks noChangeAspect="1"/>
          </p:cNvPicPr>
          <p:nvPr/>
        </p:nvPicPr>
        <p:blipFill>
          <a:blip r:embed="rId2"/>
          <a:srcRect r="9106"/>
          <a:stretch>
            <a:fillRect/>
          </a:stretch>
        </p:blipFill>
        <p:spPr>
          <a:xfrm>
            <a:off x="1324013" y="1375398"/>
            <a:ext cx="10389451" cy="4958544"/>
          </a:xfrm>
          <a:prstGeom prst="rect">
            <a:avLst/>
          </a:prstGeom>
        </p:spPr>
      </p:pic>
    </p:spTree>
    <p:extLst>
      <p:ext uri="{BB962C8B-B14F-4D97-AF65-F5344CB8AC3E}">
        <p14:creationId xmlns:p14="http://schemas.microsoft.com/office/powerpoint/2010/main" val="627080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2EE9E-4D44-CD36-309B-6E7EAD1973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87AAEE-D202-DCA9-0EDB-ED7EB163E7CA}"/>
              </a:ext>
            </a:extLst>
          </p:cNvPr>
          <p:cNvSpPr txBox="1"/>
          <p:nvPr/>
        </p:nvSpPr>
        <p:spPr>
          <a:xfrm>
            <a:off x="1188720" y="603504"/>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2EEBDE6B-7519-8F90-4537-4E9FD7DB6B33}"/>
              </a:ext>
            </a:extLst>
          </p:cNvPr>
          <p:cNvPicPr>
            <a:picLocks noChangeAspect="1"/>
          </p:cNvPicPr>
          <p:nvPr/>
        </p:nvPicPr>
        <p:blipFill>
          <a:blip r:embed="rId3"/>
          <a:srcRect t="1885"/>
          <a:stretch>
            <a:fillRect/>
          </a:stretch>
        </p:blipFill>
        <p:spPr>
          <a:xfrm>
            <a:off x="2327912" y="3591151"/>
            <a:ext cx="7881477" cy="2755911"/>
          </a:xfrm>
          <a:prstGeom prst="rect">
            <a:avLst/>
          </a:prstGeom>
        </p:spPr>
      </p:pic>
      <p:sp>
        <p:nvSpPr>
          <p:cNvPr id="3" name="TextBox 2">
            <a:extLst>
              <a:ext uri="{FF2B5EF4-FFF2-40B4-BE49-F238E27FC236}">
                <a16:creationId xmlns:a16="http://schemas.microsoft.com/office/drawing/2014/main" id="{F6D01497-1233-3F46-444B-138A7D8A82EE}"/>
              </a:ext>
            </a:extLst>
          </p:cNvPr>
          <p:cNvSpPr txBox="1"/>
          <p:nvPr/>
        </p:nvSpPr>
        <p:spPr>
          <a:xfrm>
            <a:off x="1554480" y="1435608"/>
            <a:ext cx="8833104" cy="2031325"/>
          </a:xfrm>
          <a:prstGeom prst="rect">
            <a:avLst/>
          </a:prstGeom>
          <a:noFill/>
        </p:spPr>
        <p:txBody>
          <a:bodyPr wrap="square" rtlCol="0">
            <a:spAutoFit/>
          </a:bodyPr>
          <a:lstStyle/>
          <a:p>
            <a:r>
              <a:rPr lang="en-US" dirty="0"/>
              <a:t>The proposed </a:t>
            </a:r>
            <a:r>
              <a:rPr lang="en-US" b="1" dirty="0" err="1"/>
              <a:t>IntelliDesk</a:t>
            </a:r>
            <a:r>
              <a:rPr lang="en-US" b="1" dirty="0"/>
              <a:t> AI Controller</a:t>
            </a:r>
            <a:r>
              <a:rPr lang="en-US" dirty="0"/>
              <a:t> demonstrated reliable real-time performance across multiple interaction modes including gesture control &amp; voice assistance .Experimental evaluation was conducted under different lighting and usage conditions to measure system accuracy, response latency, and robustness. The gesture recognition pipeline achieved high precision with low latency due to </a:t>
            </a:r>
            <a:r>
              <a:rPr lang="en-US" dirty="0" err="1"/>
              <a:t>MediaPipe</a:t>
            </a:r>
            <a:r>
              <a:rPr lang="en-US" dirty="0"/>
              <a:t>-based hand tracking and optimized OpenCV processing. Overall, the system successfully delivered smooth and accurate human-computer interaction suitable for intelligent desktop automation.</a:t>
            </a:r>
          </a:p>
        </p:txBody>
      </p:sp>
    </p:spTree>
    <p:extLst>
      <p:ext uri="{BB962C8B-B14F-4D97-AF65-F5344CB8AC3E}">
        <p14:creationId xmlns:p14="http://schemas.microsoft.com/office/powerpoint/2010/main" val="3449045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5EA22-6FC3-17E9-1429-53322905DC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CA5CED-8D57-CD39-E113-3F8318F5AAC2}"/>
              </a:ext>
            </a:extLst>
          </p:cNvPr>
          <p:cNvSpPr txBox="1"/>
          <p:nvPr/>
        </p:nvSpPr>
        <p:spPr>
          <a:xfrm>
            <a:off x="1207008" y="411480"/>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Conclusion</a:t>
            </a:r>
          </a:p>
        </p:txBody>
      </p:sp>
      <p:pic>
        <p:nvPicPr>
          <p:cNvPr id="4" name="Picture 3">
            <a:extLst>
              <a:ext uri="{FF2B5EF4-FFF2-40B4-BE49-F238E27FC236}">
                <a16:creationId xmlns:a16="http://schemas.microsoft.com/office/drawing/2014/main" id="{E5EB7900-B0F8-0678-1E8A-CAB3142C4CED}"/>
              </a:ext>
            </a:extLst>
          </p:cNvPr>
          <p:cNvPicPr>
            <a:picLocks noChangeAspect="1"/>
          </p:cNvPicPr>
          <p:nvPr/>
        </p:nvPicPr>
        <p:blipFill>
          <a:blip r:embed="rId2">
            <a:extLst>
              <a:ext uri="{28A0092B-C50C-407E-A947-70E740481C1C}">
                <a14:useLocalDpi xmlns:a14="http://schemas.microsoft.com/office/drawing/2010/main" val="0"/>
              </a:ext>
            </a:extLst>
          </a:blip>
          <a:srcRect t="3734" b="4932"/>
          <a:stretch>
            <a:fillRect/>
          </a:stretch>
        </p:blipFill>
        <p:spPr>
          <a:xfrm>
            <a:off x="1556768" y="1100515"/>
            <a:ext cx="9123424" cy="5546115"/>
          </a:xfrm>
          <a:prstGeom prst="rect">
            <a:avLst/>
          </a:prstGeom>
        </p:spPr>
      </p:pic>
    </p:spTree>
    <p:extLst>
      <p:ext uri="{BB962C8B-B14F-4D97-AF65-F5344CB8AC3E}">
        <p14:creationId xmlns:p14="http://schemas.microsoft.com/office/powerpoint/2010/main" val="3518892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3C024-1F95-D581-57FB-E0F487D753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7030FC-0293-AB0E-04D5-036AB5E3BBFE}"/>
              </a:ext>
            </a:extLst>
          </p:cNvPr>
          <p:cNvSpPr txBox="1"/>
          <p:nvPr/>
        </p:nvSpPr>
        <p:spPr>
          <a:xfrm>
            <a:off x="1188720" y="603504"/>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Future Scope</a:t>
            </a:r>
          </a:p>
        </p:txBody>
      </p:sp>
      <p:sp>
        <p:nvSpPr>
          <p:cNvPr id="8" name="TextBox 7">
            <a:extLst>
              <a:ext uri="{FF2B5EF4-FFF2-40B4-BE49-F238E27FC236}">
                <a16:creationId xmlns:a16="http://schemas.microsoft.com/office/drawing/2014/main" id="{E813E147-BA5B-FEC7-48C7-740BBA2BF763}"/>
              </a:ext>
            </a:extLst>
          </p:cNvPr>
          <p:cNvSpPr txBox="1"/>
          <p:nvPr/>
        </p:nvSpPr>
        <p:spPr>
          <a:xfrm>
            <a:off x="1792224" y="1664209"/>
            <a:ext cx="7991856" cy="4185761"/>
          </a:xfrm>
          <a:prstGeom prst="rect">
            <a:avLst/>
          </a:prstGeom>
          <a:noFill/>
        </p:spPr>
        <p:txBody>
          <a:bodyPr wrap="square" rtlCol="0">
            <a:spAutoFit/>
          </a:bodyPr>
          <a:lstStyle/>
          <a:p>
            <a:r>
              <a:rPr lang="en-US" sz="1400" b="1" dirty="0"/>
              <a:t>🔵 AI-Based Gesture Recognition</a:t>
            </a:r>
          </a:p>
          <a:p>
            <a:r>
              <a:rPr lang="en-US" sz="1400" dirty="0"/>
              <a:t>Improve gesture detection accuracy using Deep Learning techniques and adaptive learning models.</a:t>
            </a:r>
          </a:p>
          <a:p>
            <a:br>
              <a:rPr lang="en-US" sz="1400" dirty="0"/>
            </a:br>
            <a:endParaRPr lang="en-US" sz="1400" dirty="0"/>
          </a:p>
          <a:p>
            <a:r>
              <a:rPr lang="en-US" sz="1400" b="1" dirty="0"/>
              <a:t>🟣 AR/VR Integration</a:t>
            </a:r>
          </a:p>
          <a:p>
            <a:r>
              <a:rPr lang="en-US" sz="1400" dirty="0"/>
              <a:t>Enable immersive interaction in virtual and augmented reality environments through natural gestures.</a:t>
            </a:r>
          </a:p>
          <a:p>
            <a:br>
              <a:rPr lang="en-US" sz="1400" dirty="0"/>
            </a:br>
            <a:endParaRPr lang="en-US" sz="1400" dirty="0"/>
          </a:p>
          <a:p>
            <a:r>
              <a:rPr lang="en-US" sz="1400" b="1" dirty="0"/>
              <a:t>🟢 Smart Home &amp; IoT Control</a:t>
            </a:r>
          </a:p>
          <a:p>
            <a:r>
              <a:rPr lang="en-US" sz="1400" dirty="0"/>
              <a:t>Extend the system to control smart devices and home appliances using gesture commands.</a:t>
            </a:r>
          </a:p>
          <a:p>
            <a:br>
              <a:rPr lang="en-US" sz="1400" dirty="0"/>
            </a:br>
            <a:endParaRPr lang="en-US" sz="1400" dirty="0"/>
          </a:p>
          <a:p>
            <a:r>
              <a:rPr lang="en-US" sz="1400" b="1" dirty="0"/>
              <a:t>🟠 Personalized User Adaptation</a:t>
            </a:r>
          </a:p>
          <a:p>
            <a:r>
              <a:rPr lang="en-US" sz="1400" dirty="0"/>
              <a:t>Allow the system to learn user-specific gesture patterns for improved comfort and usability.</a:t>
            </a:r>
          </a:p>
          <a:p>
            <a:br>
              <a:rPr lang="en-US" sz="1400" dirty="0"/>
            </a:br>
            <a:endParaRPr lang="en-US" sz="1400" dirty="0"/>
          </a:p>
          <a:p>
            <a:r>
              <a:rPr lang="en-US" sz="1400" b="1" dirty="0"/>
              <a:t>🔴 Accessibility Enhancement</a:t>
            </a:r>
          </a:p>
          <a:p>
            <a:r>
              <a:rPr lang="en-US" sz="1400" dirty="0"/>
              <a:t>Provide touchless interaction support for differently-abled users through voice and gesture control.</a:t>
            </a:r>
          </a:p>
          <a:p>
            <a:endParaRPr lang="en-US" sz="1400" dirty="0"/>
          </a:p>
        </p:txBody>
      </p:sp>
    </p:spTree>
    <p:extLst>
      <p:ext uri="{BB962C8B-B14F-4D97-AF65-F5344CB8AC3E}">
        <p14:creationId xmlns:p14="http://schemas.microsoft.com/office/powerpoint/2010/main" val="1007231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342A8-217E-3AE1-F803-51D3EFDAE1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B9AC11-7499-D457-93E3-0956912E66FB}"/>
              </a:ext>
            </a:extLst>
          </p:cNvPr>
          <p:cNvSpPr txBox="1"/>
          <p:nvPr/>
        </p:nvSpPr>
        <p:spPr>
          <a:xfrm>
            <a:off x="1188720" y="603504"/>
            <a:ext cx="6931152"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References</a:t>
            </a:r>
          </a:p>
        </p:txBody>
      </p:sp>
      <p:pic>
        <p:nvPicPr>
          <p:cNvPr id="4" name="Picture 3">
            <a:extLst>
              <a:ext uri="{FF2B5EF4-FFF2-40B4-BE49-F238E27FC236}">
                <a16:creationId xmlns:a16="http://schemas.microsoft.com/office/drawing/2014/main" id="{CB259E51-B01D-7381-2F58-AA4861AD3A74}"/>
              </a:ext>
            </a:extLst>
          </p:cNvPr>
          <p:cNvPicPr>
            <a:picLocks noChangeAspect="1"/>
          </p:cNvPicPr>
          <p:nvPr/>
        </p:nvPicPr>
        <p:blipFill>
          <a:blip r:embed="rId2">
            <a:extLst>
              <a:ext uri="{28A0092B-C50C-407E-A947-70E740481C1C}">
                <a14:useLocalDpi xmlns:a14="http://schemas.microsoft.com/office/drawing/2010/main" val="0"/>
              </a:ext>
            </a:extLst>
          </a:blip>
          <a:srcRect t="13700"/>
          <a:stretch>
            <a:fillRect/>
          </a:stretch>
        </p:blipFill>
        <p:spPr>
          <a:xfrm>
            <a:off x="918284" y="1389888"/>
            <a:ext cx="11273715" cy="4864608"/>
          </a:xfrm>
          <a:prstGeom prst="rect">
            <a:avLst/>
          </a:prstGeom>
        </p:spPr>
      </p:pic>
    </p:spTree>
    <p:extLst>
      <p:ext uri="{BB962C8B-B14F-4D97-AF65-F5344CB8AC3E}">
        <p14:creationId xmlns:p14="http://schemas.microsoft.com/office/powerpoint/2010/main" val="3953139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42BF-5E88-D77D-B540-07544B8627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79B62B-D696-C1A5-611C-0841DF3E2A73}"/>
              </a:ext>
            </a:extLst>
          </p:cNvPr>
          <p:cNvSpPr txBox="1"/>
          <p:nvPr/>
        </p:nvSpPr>
        <p:spPr>
          <a:xfrm>
            <a:off x="2249424" y="2228671"/>
            <a:ext cx="6931152" cy="1200329"/>
          </a:xfrm>
          <a:prstGeom prst="rect">
            <a:avLst/>
          </a:prstGeom>
          <a:noFill/>
        </p:spPr>
        <p:txBody>
          <a:bodyPr wrap="square" rtlCol="0">
            <a:spAutoFit/>
          </a:bodyPr>
          <a:lstStyle/>
          <a:p>
            <a:pPr algn="ctr"/>
            <a:r>
              <a:rPr lang="en-US" sz="72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1276164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216A-B722-B5E5-9A24-BBC1571C64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463390-0EFF-C5FC-BAB1-53910C164E71}"/>
              </a:ext>
            </a:extLst>
          </p:cNvPr>
          <p:cNvSpPr txBox="1"/>
          <p:nvPr/>
        </p:nvSpPr>
        <p:spPr>
          <a:xfrm>
            <a:off x="1307592" y="2179493"/>
            <a:ext cx="6300216"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Project Accessibility for Next Batch</a:t>
            </a:r>
          </a:p>
        </p:txBody>
      </p:sp>
      <p:sp>
        <p:nvSpPr>
          <p:cNvPr id="3" name="TextBox 2">
            <a:extLst>
              <a:ext uri="{FF2B5EF4-FFF2-40B4-BE49-F238E27FC236}">
                <a16:creationId xmlns:a16="http://schemas.microsoft.com/office/drawing/2014/main" id="{F0B21F09-998D-05A1-69DB-D07D1FBA6F10}"/>
              </a:ext>
            </a:extLst>
          </p:cNvPr>
          <p:cNvSpPr txBox="1"/>
          <p:nvPr/>
        </p:nvSpPr>
        <p:spPr>
          <a:xfrm>
            <a:off x="763524" y="3886202"/>
            <a:ext cx="6931152" cy="646331"/>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Availability</a:t>
            </a:r>
            <a:r>
              <a:rPr lang="en-US" sz="36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as Student Mentor</a:t>
            </a:r>
            <a:endParaRPr lang="en-US" sz="3600" dirty="0">
              <a:latin typeface="Times New Roman" panose="02020603050405020304" pitchFamily="18" charset="0"/>
              <a:cs typeface="Times New Roman" panose="02020603050405020304" pitchFamily="18" charset="0"/>
            </a:endParaRPr>
          </a:p>
        </p:txBody>
      </p:sp>
      <p:pic>
        <p:nvPicPr>
          <p:cNvPr id="1026" name="Picture 2" descr="Download Yes, Icon, Logo. Royalty-Free Stock Illustration ...">
            <a:extLst>
              <a:ext uri="{FF2B5EF4-FFF2-40B4-BE49-F238E27FC236}">
                <a16:creationId xmlns:a16="http://schemas.microsoft.com/office/drawing/2014/main" id="{808584DB-2F51-DA90-50E9-290CD40DD7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78" t="18775" r="17956" b="18904"/>
          <a:stretch>
            <a:fillRect/>
          </a:stretch>
        </p:blipFill>
        <p:spPr bwMode="auto">
          <a:xfrm>
            <a:off x="8108815" y="1905990"/>
            <a:ext cx="1248546" cy="12537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ownload Yes, Icon, Logo. Royalty-Free Stock Illustration ...">
            <a:extLst>
              <a:ext uri="{FF2B5EF4-FFF2-40B4-BE49-F238E27FC236}">
                <a16:creationId xmlns:a16="http://schemas.microsoft.com/office/drawing/2014/main" id="{299F7AB2-FF3D-C356-9E68-D1800BA5C7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78" t="18775" r="17956" b="18904"/>
          <a:stretch>
            <a:fillRect/>
          </a:stretch>
        </p:blipFill>
        <p:spPr bwMode="auto">
          <a:xfrm>
            <a:off x="7922887" y="3698218"/>
            <a:ext cx="1248546" cy="12537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FA90055-6284-3493-E99D-6852C3EED753}"/>
              </a:ext>
            </a:extLst>
          </p:cNvPr>
          <p:cNvSpPr txBox="1"/>
          <p:nvPr/>
        </p:nvSpPr>
        <p:spPr>
          <a:xfrm>
            <a:off x="1106424" y="849085"/>
            <a:ext cx="3785616" cy="769441"/>
          </a:xfrm>
          <a:prstGeom prst="rect">
            <a:avLst/>
          </a:prstGeom>
          <a:noFill/>
        </p:spPr>
        <p:txBody>
          <a:bodyPr wrap="square" rtlCol="0">
            <a:spAutoFit/>
          </a:bodyPr>
          <a:lstStyle/>
          <a:p>
            <a:pPr algn="ctr"/>
            <a:r>
              <a:rPr lang="en-US" sz="4400" dirty="0">
                <a:latin typeface="Times New Roman" panose="02020603050405020304" pitchFamily="18" charset="0"/>
                <a:cs typeface="Times New Roman" panose="02020603050405020304" pitchFamily="18" charset="0"/>
              </a:rPr>
              <a:t>Accessibility</a:t>
            </a:r>
          </a:p>
        </p:txBody>
      </p:sp>
    </p:spTree>
    <p:extLst>
      <p:ext uri="{BB962C8B-B14F-4D97-AF65-F5344CB8AC3E}">
        <p14:creationId xmlns:p14="http://schemas.microsoft.com/office/powerpoint/2010/main" val="3367220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275</Words>
  <Application>Microsoft Office PowerPoint</Application>
  <PresentationFormat>Widescreen</PresentationFormat>
  <Paragraphs>46</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Kr Tiwari</dc:creator>
  <cp:lastModifiedBy>Vivek Kr Tiwari</cp:lastModifiedBy>
  <cp:revision>13</cp:revision>
  <dcterms:created xsi:type="dcterms:W3CDTF">2026-05-22T10:32:24Z</dcterms:created>
  <dcterms:modified xsi:type="dcterms:W3CDTF">2026-05-25T04:01:35Z</dcterms:modified>
</cp:coreProperties>
</file>